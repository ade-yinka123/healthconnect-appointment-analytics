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Arial"/>
              </a:rPr>
              <a:t>No-Show Rate by Risk Score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No-show rate (%)</c:v>
                </c:pt>
              </c:strCache>
            </c:strRef>
          </c:tx>
          <c:spPr>
            <a:solidFill>
              <a:srgbClr val="D645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B3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Score 0</c:v>
                  </c:pt>
                  <c:pt idx="1">
                    <c:v>Score 1</c:v>
                  </c:pt>
                  <c:pt idx="2">
                    <c:v>Score 2</c:v>
                  </c:pt>
                  <c:pt idx="3">
                    <c:v>Score 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24.6</c:v>
                </c:pt>
                <c:pt idx="1">
                  <c:v>43.1</c:v>
                </c:pt>
                <c:pt idx="2">
                  <c:v>53.3</c:v>
                </c:pt>
                <c:pt idx="3">
                  <c:v>65.1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B3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B3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No-show rate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B3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No-Show Rate: Flagged vs. Not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No-show rate (%)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2B3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645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Not flagged
(score 0–1)</c:v>
                  </c:pt>
                  <c:pt idx="1">
                    <c:v>Flagged
(score ≥2)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39.4</c:v>
                </c:pt>
                <c:pt idx="1">
                  <c:v>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B2B3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B3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B3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No-Show Rate by Reminder Status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No-show rate (%)</c:v>
                </c:pt>
              </c:strCache>
            </c:strRef>
          </c:tx>
          <c:spPr>
            <a:solidFill>
              <a:srgbClr val="D645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2B3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6455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No reminder</c:v>
                  </c:pt>
                  <c:pt idx="1">
                    <c:v>Reminder sent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51.4</c:v>
                </c:pt>
                <c:pt idx="1">
                  <c:v>47.4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B2B3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B3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B3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Held-Out AUC Comparison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2B3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Rule-based
risk score</c:v>
                  </c:pt>
                  <c:pt idx="1">
                    <c:v>Data Science's
refined model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0.596</c:v>
                </c:pt>
                <c:pt idx="1">
                  <c:v>0.662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300" u="none">
                  <a:solidFill>
                    <a:srgbClr val="1B2B3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B3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5"/>
          <c:min val="0.5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B3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HealthConnect Clinic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9260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— Final Findings &amp; Recommendations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480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Final Presentation  |  AnalystLab Africa Experience Lab  |  Data Analytics Track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HealthConnect Clinic use data and AI to reduce missed appointments and improve the patient support experience?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half of all booked appointments in the dataset end in a no-show.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appointments waste clinic capacity and delay care for other patients.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Analytics track set out to find which patients are most likely to miss appointments, and why.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589520" y="1371600"/>
            <a:ext cx="3840480" cy="1645920"/>
          </a:xfrm>
          <a:prstGeom prst="roundRect">
            <a:avLst>
              <a:gd name="adj" fmla="val 4444"/>
            </a:avLst>
          </a:prstGeom>
          <a:solidFill>
            <a:srgbClr val="F2F7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589520" y="150876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48.5%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24505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appointments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in a no-show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589520" y="3200400"/>
            <a:ext cx="3840480" cy="1645920"/>
          </a:xfrm>
          <a:prstGeom prst="roundRect">
            <a:avLst>
              <a:gd name="adj" fmla="val 4444"/>
            </a:avLst>
          </a:prstGeom>
          <a:solidFill>
            <a:srgbClr val="F2F7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589520" y="333756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42793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Validated Drivers of No-Shows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3716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Lead Time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13716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rate rises from 24.8% (booked &lt;3 days out) to 60.5% (booked 31–60 days out)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2402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to Clinic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22402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rate rises from 46.5% (nearby) to 68.1% (furthest patients)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1089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No-Show History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310896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rate rises from 43.5% (no history) to 68.8% (repeat no-shows)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6634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remain statistically significant even after controlling for one another (chi-square + joint logistic regression). Waiting time and appointment day are confirmed NOT to be drivers.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Validated Compound Risk Score (0–3)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point each for: booking lead time &gt; 14 days · distance &gt; 10 km · prior no-show ≥ 1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46304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2F7F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0" y="16002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12/13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23134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segments show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rising pattern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772400" y="306324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2F7F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772400" y="32004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Reproducible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39136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re-derived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verified in Week 7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772400" y="466344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2F7F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0" y="48006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7863840" y="55138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and ready for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deployment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 Impact: A Far More Effective Filter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88720"/>
          <a:ext cx="530352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309360" y="118872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F2F7F7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309360" y="13258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54.4%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6400800" y="217627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appointments flagged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risk score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09360" y="292608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F2F7F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309360" y="30632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62.9%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391363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no-shows captured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that flagged 54.4%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09360" y="466344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F2F7F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309360" y="48006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5×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565099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no-shows captured than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Week 5 single-rule flag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Reminders Work — Keep Them Universal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88720"/>
          <a:ext cx="530352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309360" y="1371600"/>
            <a:ext cx="53035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properly powered statistical test (n=5,000) confirms the reminder effect does NOT vary meaningfully by risk tier (p = 0.732).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upgrades Week 6’s "suggestive" finding to a confirmed result.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keep SMS reminders universal for all patients, and use the risk score to target additional, non-reminder support instead.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Cross-Track Validation with Data Science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88720"/>
          <a:ext cx="530352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309360" y="1371600"/>
            <a:ext cx="53035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rule-based risk score and Data Science’s independently built model agree directionally (r = 0.642) on a proper held-out test set.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adds a modest, genuine improvement in ranking risk — not a replacement for the interpretable rule.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methodological issue (in-sample vs. held-out evaluation) was identified through this exchange and corrected in both tracks’ final figures.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2F7F7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48132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28016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0–3 risk score as the primary triage tool: light-touch for 0–1, proactive outreach for 2, priority support for 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67712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2F7F7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4688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267712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SMS reminders universal — do not restrict by risk tier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55264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2F7F7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45643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255264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Data Science’s model as a secondary refinement layer once ML Engineering integrates it, not an immediate replacement for the rule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242816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2F7F7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444398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443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242816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no-show rate, capture rate, and reminder compliance as ongoing KPIs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230368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2F7F7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543153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5431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5230368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run a properly powered reminder-timing/channel test next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Next Steps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315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is fictional/synthetic — findings need validation on real operational data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are observational (association, not causation)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Risk-score thresholds remain heuristic; Data Science’s model is the more rigorous alternative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patient subgroups are too small for fully reliable segment-level conclusions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6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reminder-timing/channel A/B test has not yet been run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0" y="1463040"/>
            <a:ext cx="3383280" cy="3840480"/>
          </a:xfrm>
          <a:prstGeom prst="roundRect">
            <a:avLst>
              <a:gd name="adj" fmla="val 2703"/>
            </a:avLst>
          </a:prstGeom>
          <a:solidFill>
            <a:srgbClr val="1732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503920" y="1737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2194560"/>
            <a:ext cx="2834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validated, tested risk-triage tool — ready to guide HealthConnect’s patient outreach today, and to be refined further alongside Data Science’s model.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2026-09-23T06:38:52Z</dcterms:created>
  <dcterms:modified xsi:type="dcterms:W3CDTF">2026-09-23T06:38:52Z</dcterms:modified>
</cp:coreProperties>
</file>